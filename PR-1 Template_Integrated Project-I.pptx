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81" r:id="rId2"/>
    <p:sldId id="284" r:id="rId3"/>
    <p:sldId id="285" r:id="rId4"/>
    <p:sldId id="294" r:id="rId5"/>
    <p:sldId id="295" r:id="rId6"/>
    <p:sldId id="286" r:id="rId7"/>
    <p:sldId id="296" r:id="rId8"/>
    <p:sldId id="297" r:id="rId9"/>
    <p:sldId id="287" r:id="rId10"/>
    <p:sldId id="288" r:id="rId11"/>
    <p:sldId id="289" r:id="rId12"/>
    <p:sldId id="298" r:id="rId13"/>
    <p:sldId id="290" r:id="rId14"/>
    <p:sldId id="291" r:id="rId15"/>
    <p:sldId id="292" r:id="rId16"/>
    <p:sldId id="293" r:id="rId17"/>
  </p:sldIdLst>
  <p:sldSz cx="9144000" cy="6858000" type="screen4x3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5965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5" descr="log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92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charset="0"/>
              <a:ea typeface="ＭＳ Ｐゴシック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7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4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038" name="Picture 15" descr="logo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88698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/>
          <a:cs typeface="MS PGothic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4">
            <a:extLst>
              <a:ext uri="{FF2B5EF4-FFF2-40B4-BE49-F238E27FC236}">
                <a16:creationId xmlns:a16="http://schemas.microsoft.com/office/drawing/2014/main" id="{E4690CBE-8CEE-F5EE-CA89-DCBB31B742DE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1</a:t>
            </a:fld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2830176" y="986135"/>
            <a:ext cx="34836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en-US" sz="2400" b="1" dirty="0"/>
              <a:t>PROGRESS REVIEW 1</a:t>
            </a:r>
            <a:endParaRPr lang="en-IN" altLang="en-US" sz="2400" b="1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037" y="2362110"/>
            <a:ext cx="2582124" cy="129549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932503"/>
              </p:ext>
            </p:extLst>
          </p:nvPr>
        </p:nvGraphicFramePr>
        <p:xfrm>
          <a:off x="341951" y="5002843"/>
          <a:ext cx="8460096" cy="1554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3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886">
                <a:tc>
                  <a:txBody>
                    <a:bodyPr/>
                    <a:lstStyle/>
                    <a:p>
                      <a:r>
                        <a:rPr lang="en-US" sz="1100" b="1" dirty="0"/>
                        <a:t>Submitted</a:t>
                      </a:r>
                      <a:r>
                        <a:rPr lang="en-US" sz="1100" b="1" baseline="0" dirty="0"/>
                        <a:t> To: </a:t>
                      </a:r>
                      <a:r>
                        <a:rPr lang="en-US" sz="1100" b="1" baseline="0" dirty="0" smtClean="0"/>
                        <a:t>Dr. Osho Sharma</a:t>
                      </a:r>
                      <a:endParaRPr lang="en-IN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Submitted By:</a:t>
                      </a:r>
                      <a:endParaRPr lang="en-IN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957">
                <a:tc rowSpan="5">
                  <a:txBody>
                    <a:bodyPr/>
                    <a:lstStyle/>
                    <a:p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r>
                        <a:rPr lang="en-US" sz="1100" dirty="0" smtClean="0"/>
                        <a:t>. Savy Garg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408">
                <a:tc vMerge="1">
                  <a:txBody>
                    <a:bodyPr/>
                    <a:lstStyle/>
                    <a:p>
                      <a:endParaRPr lang="en-IN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  <a:r>
                        <a:rPr lang="en-US" sz="1100" dirty="0" smtClean="0"/>
                        <a:t>. Shivangi Tawar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661">
                <a:tc vMerge="1">
                  <a:txBody>
                    <a:bodyPr/>
                    <a:lstStyle/>
                    <a:p>
                      <a:endParaRPr lang="en-IN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  <a:r>
                        <a:rPr lang="en-US" sz="1100" dirty="0" smtClean="0"/>
                        <a:t>. Sanya Vohra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347">
                <a:tc vMerge="1">
                  <a:txBody>
                    <a:bodyPr/>
                    <a:lstStyle/>
                    <a:p>
                      <a:endParaRPr lang="en-IN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  <a:r>
                        <a:rPr lang="en-US" sz="1100" dirty="0" smtClean="0"/>
                        <a:t>. Samiksha Arya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347">
                <a:tc vMerge="1">
                  <a:txBody>
                    <a:bodyPr/>
                    <a:lstStyle/>
                    <a:p>
                      <a:endParaRPr lang="en-IN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</a:t>
                      </a:r>
                      <a:r>
                        <a:rPr lang="en-US" sz="1100" dirty="0" smtClean="0"/>
                        <a:t>. Yashika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2173891" y="3733800"/>
            <a:ext cx="4790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altLang="en-US" b="1" dirty="0"/>
              <a:t>Department of computer Science &amp; Engineering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32493" y="4035643"/>
            <a:ext cx="58732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altLang="en-US" sz="2400" b="1" dirty="0"/>
              <a:t>CHITKARA UNIVERSITY, HIMACHAL PRADESH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3179" y="1548825"/>
            <a:ext cx="3281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altLang="en-US" sz="3200" b="1" dirty="0" smtClean="0">
                <a:solidFill>
                  <a:srgbClr val="FF0000"/>
                </a:solidFill>
              </a:rPr>
              <a:t>SustainaSphere</a:t>
            </a:r>
            <a:endParaRPr lang="en-IN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104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57800"/>
          </a:xfrm>
        </p:spPr>
        <p:txBody>
          <a:bodyPr/>
          <a:lstStyle/>
          <a:p>
            <a:r>
              <a:rPr lang="en-US" dirty="0"/>
              <a:t>Project Overview</a:t>
            </a:r>
          </a:p>
          <a:p>
            <a:r>
              <a:rPr lang="en-US" dirty="0"/>
              <a:t>Requirement Gathering &amp; Data Collection</a:t>
            </a:r>
          </a:p>
          <a:p>
            <a:r>
              <a:rPr lang="en-US" dirty="0"/>
              <a:t>Design Phase</a:t>
            </a:r>
          </a:p>
          <a:p>
            <a:r>
              <a:rPr lang="en-US" dirty="0"/>
              <a:t>Development Kickoff</a:t>
            </a:r>
          </a:p>
          <a:p>
            <a:r>
              <a:rPr lang="en-US" dirty="0"/>
              <a:t>SDG Goals Mapping</a:t>
            </a:r>
          </a:p>
          <a:p>
            <a:r>
              <a:rPr lang="en-US" dirty="0"/>
              <a:t>Multidisciplinary Approach</a:t>
            </a:r>
          </a:p>
          <a:p>
            <a:r>
              <a:rPr lang="en-US" dirty="0"/>
              <a:t>Novelty Factor</a:t>
            </a:r>
          </a:p>
          <a:p>
            <a:r>
              <a:rPr lang="en-US" dirty="0"/>
              <a:t>Challenges &amp; Risks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/>
              <a:t>Project Overview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9067800" cy="58674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smtClean="0"/>
              <a:t>Objective</a:t>
            </a:r>
            <a:r>
              <a:rPr lang="en-US" sz="2400" dirty="0"/>
              <a:t>: </a:t>
            </a:r>
            <a:endParaRPr lang="en-US" sz="2400" dirty="0" smtClean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 smtClean="0"/>
          </a:p>
          <a:p>
            <a:r>
              <a:rPr lang="en-US" sz="2400" b="1" dirty="0" smtClean="0"/>
              <a:t>Scope</a:t>
            </a:r>
            <a:r>
              <a:rPr lang="en-US" sz="2400" dirty="0" smtClean="0"/>
              <a:t>: </a:t>
            </a:r>
            <a:r>
              <a:rPr lang="en-US" sz="2400" b="1" dirty="0"/>
              <a:t>Included:</a:t>
            </a:r>
            <a:endParaRPr lang="en-US" sz="2400" dirty="0"/>
          </a:p>
          <a:p>
            <a:r>
              <a:rPr lang="en-US" sz="2000" dirty="0"/>
              <a:t>Main homepage with sustainability insights</a:t>
            </a:r>
          </a:p>
          <a:p>
            <a:r>
              <a:rPr lang="en-US" sz="2000" dirty="0"/>
              <a:t>Registration &amp; login system</a:t>
            </a:r>
          </a:p>
          <a:p>
            <a:r>
              <a:rPr lang="en-US" sz="2000" dirty="0"/>
              <a:t>Carbon footprint calculator</a:t>
            </a:r>
          </a:p>
          <a:p>
            <a:r>
              <a:rPr lang="en-US" sz="2000" dirty="0"/>
              <a:t>Events page for sustainability initiatives</a:t>
            </a:r>
          </a:p>
          <a:p>
            <a:r>
              <a:rPr lang="en-US" sz="2000" dirty="0"/>
              <a:t>Interactive game &amp; quiz</a:t>
            </a:r>
          </a:p>
          <a:p>
            <a:r>
              <a:rPr lang="en-US" sz="2000" dirty="0"/>
              <a:t>AI </a:t>
            </a:r>
            <a:r>
              <a:rPr lang="en-US" sz="2000" dirty="0" smtClean="0"/>
              <a:t>chatbot </a:t>
            </a:r>
            <a:r>
              <a:rPr lang="en-US" sz="2000" dirty="0"/>
              <a:t>for sustainability guidance</a:t>
            </a:r>
          </a:p>
          <a:p>
            <a:pPr marL="0" indent="0">
              <a:buNone/>
            </a:pPr>
            <a:r>
              <a:rPr lang="en-US" sz="2400" dirty="0" smtClean="0"/>
              <a:t> </a:t>
            </a:r>
            <a:r>
              <a:rPr lang="en-US" sz="2400" b="1" dirty="0"/>
              <a:t>Excluded:</a:t>
            </a:r>
            <a:endParaRPr lang="en-US" sz="2400" dirty="0"/>
          </a:p>
          <a:p>
            <a:r>
              <a:rPr lang="en-US" sz="2000" dirty="0"/>
              <a:t>Mobile app development (current focus is web-based)</a:t>
            </a:r>
          </a:p>
          <a:p>
            <a:r>
              <a:rPr lang="en-US" sz="2000" dirty="0"/>
              <a:t>Advanced AI-driven sustainability </a:t>
            </a:r>
            <a:r>
              <a:rPr lang="en-US" sz="2000" dirty="0" smtClean="0"/>
              <a:t>analytics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1447800" y="914400"/>
            <a:ext cx="7848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/>
            <a:r>
              <a:rPr lang="en-US" altLang="en-US" sz="2000" dirty="0">
                <a:latin typeface="+mn-lt"/>
              </a:rPr>
              <a:t>SustainaSphere is an interactive web platform that offers tools, interaction opportunities, and educational resources to encourage sustainability awareness and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6388"/>
            <a:ext cx="8229600" cy="4754563"/>
          </a:xfrm>
        </p:spPr>
        <p:txBody>
          <a:bodyPr/>
          <a:lstStyle/>
          <a:p>
            <a:r>
              <a:rPr lang="en-US" sz="2800" b="1" dirty="0"/>
              <a:t>Stakeholders</a:t>
            </a:r>
            <a:r>
              <a:rPr lang="en-US" sz="2800" dirty="0"/>
              <a:t>: </a:t>
            </a:r>
            <a:endParaRPr lang="en-US" sz="2800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r>
              <a:rPr lang="en-US" sz="2800" b="1" dirty="0" smtClean="0"/>
              <a:t>Timeline</a:t>
            </a:r>
            <a:r>
              <a:rPr lang="en-US" sz="2800" dirty="0"/>
              <a:t>: [High-level </a:t>
            </a:r>
            <a:r>
              <a:rPr lang="en-US" sz="2800" dirty="0" smtClean="0"/>
              <a:t>milestones]</a:t>
            </a:r>
          </a:p>
          <a:p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36092" y="1600200"/>
            <a:ext cx="827181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Team: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Savy Garg, Shivangi Tawar, Sanya Vohra, Samiksha Arya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 smtClean="0"/>
              <a:t>Inter Disciplinary</a:t>
            </a:r>
            <a:r>
              <a:rPr lang="en-US" altLang="en-US" sz="2000" dirty="0" smtClean="0"/>
              <a:t>: Yashika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Mentor: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Dr. Osho Sharma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09600" y="3159675"/>
            <a:ext cx="7463710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Month 1: Foundation &amp; UI Development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/>
              <a:t> </a:t>
            </a:r>
            <a:r>
              <a:rPr lang="en-US" sz="2000" dirty="0"/>
              <a:t>Finalize project structure, tech stack, and database </a:t>
            </a:r>
            <a:r>
              <a:rPr lang="en-US" sz="2000" dirty="0" smtClean="0"/>
              <a:t>design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/>
              <a:t>Build </a:t>
            </a:r>
            <a:r>
              <a:rPr lang="en-US" sz="2000" dirty="0"/>
              <a:t>homepage, registration &amp; login pages </a:t>
            </a:r>
            <a:endParaRPr lang="en-US" sz="20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/>
              <a:t>Set </a:t>
            </a:r>
            <a:r>
              <a:rPr lang="en-US" sz="2000" dirty="0"/>
              <a:t>up UI/UX components for the carbon footprint calculator &amp; events </a:t>
            </a:r>
            <a:r>
              <a:rPr lang="en-US" sz="2000" dirty="0" smtClean="0"/>
              <a:t>page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/>
              <a:t>Collaborate </a:t>
            </a:r>
            <a:r>
              <a:rPr lang="en-US" sz="2000" dirty="0"/>
              <a:t>with team members for design consistency</a:t>
            </a:r>
          </a:p>
          <a:p>
            <a:r>
              <a:rPr lang="en-US" sz="2000" b="1" dirty="0" smtClean="0"/>
              <a:t>Month </a:t>
            </a:r>
            <a:r>
              <a:rPr lang="en-US" sz="2000" b="1" dirty="0"/>
              <a:t>2: Backend Development &amp; User Authentication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/>
              <a:t>Implement </a:t>
            </a:r>
            <a:r>
              <a:rPr lang="en-US" sz="2000" b="1" dirty="0"/>
              <a:t>user authentication system</a:t>
            </a:r>
            <a:r>
              <a:rPr lang="en-US" sz="2000" dirty="0"/>
              <a:t> (JWT, </a:t>
            </a:r>
            <a:r>
              <a:rPr lang="en-US" sz="2000" dirty="0" smtClean="0"/>
              <a:t>SQL)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/>
              <a:t>Integrate </a:t>
            </a:r>
            <a:r>
              <a:rPr lang="en-US" sz="2000" b="1" dirty="0"/>
              <a:t>database for storing user </a:t>
            </a:r>
            <a:r>
              <a:rPr lang="en-US" sz="2000" b="1" dirty="0" smtClean="0"/>
              <a:t>data</a:t>
            </a:r>
            <a:endParaRPr lang="en-US" sz="20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/>
              <a:t> </a:t>
            </a:r>
            <a:r>
              <a:rPr lang="en-US" sz="2000" dirty="0"/>
              <a:t>Work on </a:t>
            </a:r>
            <a:r>
              <a:rPr lang="en-US" sz="2000" b="1" dirty="0"/>
              <a:t>backend APIs</a:t>
            </a:r>
            <a:r>
              <a:rPr lang="en-US" sz="2000" dirty="0"/>
              <a:t> (Node.js, Express.js</a:t>
            </a:r>
            <a:r>
              <a:rPr lang="en-US" sz="2000" dirty="0" smtClean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/>
              <a:t> </a:t>
            </a:r>
            <a:r>
              <a:rPr lang="en-US" sz="2000" dirty="0"/>
              <a:t>Set up basic </a:t>
            </a:r>
            <a:r>
              <a:rPr lang="en-US" sz="2000" b="1" dirty="0"/>
              <a:t>carbon footprint calculator </a:t>
            </a:r>
            <a:r>
              <a:rPr lang="en-US" sz="2000" b="1" dirty="0" smtClean="0"/>
              <a:t>logic</a:t>
            </a: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050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229600" cy="5758873"/>
          </a:xfrm>
        </p:spPr>
        <p:txBody>
          <a:bodyPr/>
          <a:lstStyle/>
          <a:p>
            <a:r>
              <a:rPr lang="en-US" sz="2000" b="1" dirty="0"/>
              <a:t>Month 3: Interactive Features &amp; Database Integration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 </a:t>
            </a:r>
            <a:r>
              <a:rPr lang="en-US" sz="2000" dirty="0"/>
              <a:t>Develop </a:t>
            </a:r>
            <a:r>
              <a:rPr lang="en-US" sz="2000" b="1" dirty="0"/>
              <a:t>AI </a:t>
            </a:r>
            <a:r>
              <a:rPr lang="en-US" sz="2000" b="1" dirty="0" smtClean="0"/>
              <a:t>chatbot</a:t>
            </a:r>
            <a:r>
              <a:rPr lang="en-US" sz="2000" dirty="0" smtClean="0"/>
              <a:t> </a:t>
            </a:r>
            <a:r>
              <a:rPr lang="en-US" sz="2000" dirty="0"/>
              <a:t>(Python, </a:t>
            </a:r>
            <a:r>
              <a:rPr lang="en-US" sz="2000" dirty="0" smtClean="0"/>
              <a:t>React)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Integrate </a:t>
            </a:r>
            <a:r>
              <a:rPr lang="en-US" sz="2000" b="1" dirty="0"/>
              <a:t>carbon footprint calculator with </a:t>
            </a:r>
            <a:r>
              <a:rPr lang="en-US" sz="2000" b="1" dirty="0" smtClean="0"/>
              <a:t>database</a:t>
            </a: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Build </a:t>
            </a:r>
            <a:r>
              <a:rPr lang="en-US" sz="2000" dirty="0"/>
              <a:t>the </a:t>
            </a:r>
            <a:r>
              <a:rPr lang="en-US" sz="2000" b="1" dirty="0"/>
              <a:t>events page</a:t>
            </a:r>
            <a:r>
              <a:rPr lang="en-US" sz="2000" dirty="0"/>
              <a:t> (React, SQL</a:t>
            </a:r>
            <a:r>
              <a:rPr lang="en-US" sz="2000" dirty="0" smtClean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 </a:t>
            </a:r>
            <a:r>
              <a:rPr lang="en-US" sz="2000" dirty="0"/>
              <a:t>Set up a </a:t>
            </a:r>
            <a:r>
              <a:rPr lang="en-US" sz="2000" b="1" dirty="0"/>
              <a:t>daily sustainability tips section</a:t>
            </a:r>
            <a:endParaRPr lang="en-US" sz="2000" dirty="0"/>
          </a:p>
          <a:p>
            <a:r>
              <a:rPr lang="en-US" sz="2000" b="1" dirty="0" smtClean="0"/>
              <a:t> </a:t>
            </a:r>
            <a:r>
              <a:rPr lang="en-US" sz="2000" b="1" dirty="0"/>
              <a:t>Month 4: Gamification &amp; Final Features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 </a:t>
            </a:r>
            <a:r>
              <a:rPr lang="en-US" sz="2000" dirty="0"/>
              <a:t>Develop the </a:t>
            </a:r>
            <a:r>
              <a:rPr lang="en-US" sz="2000" b="1" dirty="0"/>
              <a:t>game &amp; quiz modules</a:t>
            </a:r>
            <a:r>
              <a:rPr lang="en-US" sz="2000" dirty="0"/>
              <a:t> (React, SQL</a:t>
            </a:r>
            <a:r>
              <a:rPr lang="en-US" sz="2000" dirty="0" smtClean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 </a:t>
            </a:r>
            <a:r>
              <a:rPr lang="en-US" sz="2000" dirty="0"/>
              <a:t>Implement </a:t>
            </a:r>
            <a:r>
              <a:rPr lang="en-US" sz="2000" b="1" dirty="0"/>
              <a:t>interactive map for sustainability </a:t>
            </a:r>
            <a:r>
              <a:rPr lang="en-US" sz="2000" b="1" dirty="0" smtClean="0"/>
              <a:t>hotspots</a:t>
            </a: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 </a:t>
            </a:r>
            <a:r>
              <a:rPr lang="en-US" sz="2000" dirty="0"/>
              <a:t>Add </a:t>
            </a:r>
            <a:r>
              <a:rPr lang="en-US" sz="2000" b="1" dirty="0"/>
              <a:t>user progress tracking &amp; </a:t>
            </a:r>
            <a:r>
              <a:rPr lang="en-US" sz="2000" b="1" dirty="0" smtClean="0"/>
              <a:t>leaderboards</a:t>
            </a: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 </a:t>
            </a:r>
            <a:r>
              <a:rPr lang="en-US" sz="2000" dirty="0"/>
              <a:t>Start </a:t>
            </a:r>
            <a:r>
              <a:rPr lang="en-US" sz="2000" b="1" dirty="0"/>
              <a:t>beta testing</a:t>
            </a:r>
            <a:r>
              <a:rPr lang="en-US" sz="2000" dirty="0"/>
              <a:t> with real users</a:t>
            </a:r>
          </a:p>
          <a:p>
            <a:r>
              <a:rPr lang="en-US" sz="2000" b="1" dirty="0" smtClean="0"/>
              <a:t> </a:t>
            </a:r>
            <a:r>
              <a:rPr lang="en-US" sz="2000" b="1" dirty="0"/>
              <a:t>Month 5: Testing, Debugging &amp; Deployment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 </a:t>
            </a:r>
            <a:r>
              <a:rPr lang="en-US" sz="2000" dirty="0"/>
              <a:t>Perform </a:t>
            </a:r>
            <a:r>
              <a:rPr lang="en-US" sz="2000" b="1" dirty="0"/>
              <a:t>extensive testing &amp; </a:t>
            </a:r>
            <a:r>
              <a:rPr lang="en-US" sz="2000" b="1" dirty="0" smtClean="0"/>
              <a:t>debugging</a:t>
            </a: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 </a:t>
            </a:r>
            <a:r>
              <a:rPr lang="en-US" sz="2000" dirty="0"/>
              <a:t>Optimize </a:t>
            </a:r>
            <a:r>
              <a:rPr lang="en-US" sz="2000" b="1" dirty="0"/>
              <a:t>performance &amp; UI </a:t>
            </a:r>
            <a:r>
              <a:rPr lang="en-US" sz="2000" b="1" dirty="0" smtClean="0"/>
              <a:t>enhancements</a:t>
            </a: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 </a:t>
            </a:r>
            <a:r>
              <a:rPr lang="en-US" sz="2000" dirty="0"/>
              <a:t>Deploy the project on a </a:t>
            </a:r>
            <a:r>
              <a:rPr lang="en-US" sz="2000" b="1" dirty="0"/>
              <a:t>hosting </a:t>
            </a:r>
            <a:r>
              <a:rPr lang="en-US" sz="2000" b="1" dirty="0" smtClean="0"/>
              <a:t>platform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 </a:t>
            </a:r>
            <a:r>
              <a:rPr lang="en-US" sz="2000" dirty="0"/>
              <a:t>Conduct final </a:t>
            </a:r>
            <a:r>
              <a:rPr lang="en-US" sz="2000" b="1" dirty="0"/>
              <a:t>team review &amp; feedback improvements</a:t>
            </a:r>
            <a:r>
              <a:rPr lang="en-US" sz="2000" dirty="0"/>
              <a:t/>
            </a:r>
            <a:br>
              <a:rPr lang="en-US" sz="2000" dirty="0"/>
            </a:br>
            <a:endParaRPr lang="en-US" altLang="en-US" sz="2000" dirty="0"/>
          </a:p>
          <a:p>
            <a:pPr marL="0" lvl="0" indent="0" eaLnBrk="0" hangingPunct="0">
              <a:spcBef>
                <a:spcPct val="0"/>
              </a:spcBef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304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Requirement Gathering &amp; Data Collection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5638800"/>
          </a:xfrm>
        </p:spPr>
        <p:txBody>
          <a:bodyPr/>
          <a:lstStyle/>
          <a:p>
            <a:r>
              <a:rPr lang="en-US" sz="2800" b="1" dirty="0" smtClean="0"/>
              <a:t>Sources </a:t>
            </a:r>
            <a:r>
              <a:rPr lang="en-US" sz="2800" b="1" dirty="0"/>
              <a:t>of Data</a:t>
            </a:r>
            <a:r>
              <a:rPr lang="en-US" sz="2800" dirty="0"/>
              <a:t>:</a:t>
            </a:r>
          </a:p>
          <a:p>
            <a:pPr marL="0" indent="0">
              <a:buNone/>
            </a:pPr>
            <a:r>
              <a:rPr lang="en-US" sz="2000" b="1" dirty="0"/>
              <a:t>Primary Data Collection:</a:t>
            </a:r>
            <a:endParaRPr lang="en-US" sz="2000" dirty="0"/>
          </a:p>
          <a:p>
            <a:r>
              <a:rPr lang="en-US" sz="2000" b="1" dirty="0"/>
              <a:t>Surveys &amp; Interviews:</a:t>
            </a:r>
            <a:r>
              <a:rPr lang="en-US" sz="2000" dirty="0"/>
              <a:t> Gathering insights from students, sustainability enthusiasts, and experts on environmental awareness and behavior.</a:t>
            </a:r>
          </a:p>
          <a:p>
            <a:r>
              <a:rPr lang="en-US" sz="2000" b="1" dirty="0"/>
              <a:t>Observations:</a:t>
            </a:r>
            <a:r>
              <a:rPr lang="en-US" sz="2000" dirty="0"/>
              <a:t> Monitoring user interactions with sustainability tools and resources.</a:t>
            </a:r>
          </a:p>
          <a:p>
            <a:pPr marL="0" indent="0">
              <a:buNone/>
            </a:pPr>
            <a:r>
              <a:rPr lang="en-US" sz="2000" dirty="0" smtClean="0"/>
              <a:t> </a:t>
            </a:r>
            <a:r>
              <a:rPr lang="en-US" sz="2000" b="1" dirty="0"/>
              <a:t>Secondary Data Collection:</a:t>
            </a:r>
            <a:endParaRPr lang="en-US" sz="2000" dirty="0"/>
          </a:p>
          <a:p>
            <a:r>
              <a:rPr lang="en-US" sz="2000" b="1" dirty="0"/>
              <a:t>Existing Datasets:</a:t>
            </a:r>
            <a:r>
              <a:rPr lang="en-US" sz="2000" dirty="0"/>
              <a:t> Carbon footprint calculation formulas, sustainability impact metrics, and global environmental reports.</a:t>
            </a:r>
          </a:p>
          <a:p>
            <a:r>
              <a:rPr lang="en-US" sz="2000" b="1" dirty="0"/>
              <a:t>Literature Review:</a:t>
            </a:r>
            <a:r>
              <a:rPr lang="en-US" sz="2000" dirty="0"/>
              <a:t> Research on best practices in sustainability education, gamification in learning, and AI-driven engagement for eco-awareness.</a:t>
            </a:r>
          </a:p>
          <a:p>
            <a:pPr marL="0" indent="0">
              <a:buNone/>
            </a:pPr>
            <a:r>
              <a:rPr lang="en-US" sz="2400" b="1" dirty="0" smtClean="0"/>
              <a:t>Key </a:t>
            </a:r>
            <a:r>
              <a:rPr lang="en-US" sz="2400" b="1" dirty="0"/>
              <a:t>Functional &amp; Non-Functional </a:t>
            </a:r>
            <a:r>
              <a:rPr lang="en-US" sz="2400" b="1" dirty="0" smtClean="0"/>
              <a:t>Requirements</a:t>
            </a:r>
            <a:endParaRPr lang="en-US" sz="2800" dirty="0"/>
          </a:p>
          <a:p>
            <a:r>
              <a:rPr lang="en-US" sz="2000" b="1" dirty="0" smtClean="0"/>
              <a:t>Functional </a:t>
            </a:r>
            <a:r>
              <a:rPr lang="en-US" sz="2000" b="1" dirty="0"/>
              <a:t>Requirements:</a:t>
            </a:r>
            <a:endParaRPr lang="en-US" sz="2000" dirty="0"/>
          </a:p>
          <a:p>
            <a:r>
              <a:rPr lang="en-US" sz="2000" dirty="0"/>
              <a:t>User authentication &amp; profile management</a:t>
            </a:r>
          </a:p>
          <a:p>
            <a:r>
              <a:rPr lang="en-US" sz="2000" dirty="0"/>
              <a:t>Carbon footprint calculator with personalized </a:t>
            </a:r>
            <a:r>
              <a:rPr lang="en-US" sz="2000" dirty="0" smtClean="0"/>
              <a:t>recommendations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839200" cy="5638800"/>
          </a:xfrm>
        </p:spPr>
        <p:txBody>
          <a:bodyPr/>
          <a:lstStyle/>
          <a:p>
            <a:r>
              <a:rPr lang="en-US" sz="2000" dirty="0"/>
              <a:t>Event listings &amp; registrations</a:t>
            </a:r>
          </a:p>
          <a:p>
            <a:r>
              <a:rPr lang="en-US" sz="2000" dirty="0"/>
              <a:t>Interactive game &amp; quiz on sustainability</a:t>
            </a:r>
          </a:p>
          <a:p>
            <a:r>
              <a:rPr lang="en-US" sz="2000" dirty="0"/>
              <a:t>AI </a:t>
            </a:r>
            <a:r>
              <a:rPr lang="en-US" sz="2000" dirty="0" smtClean="0"/>
              <a:t>chatbot </a:t>
            </a:r>
            <a:r>
              <a:rPr lang="en-US" sz="2000" dirty="0"/>
              <a:t>for sustainability guidance</a:t>
            </a:r>
          </a:p>
          <a:p>
            <a:r>
              <a:rPr lang="en-US" sz="2000" b="1" dirty="0" smtClean="0"/>
              <a:t>Non-Functional </a:t>
            </a:r>
            <a:r>
              <a:rPr lang="en-US" sz="2000" b="1" dirty="0"/>
              <a:t>Requirements:</a:t>
            </a:r>
            <a:endParaRPr lang="en-US" sz="2000" dirty="0"/>
          </a:p>
          <a:p>
            <a:r>
              <a:rPr lang="en-US" sz="2000" dirty="0"/>
              <a:t>User-friendly &amp; responsive UI</a:t>
            </a:r>
          </a:p>
          <a:p>
            <a:r>
              <a:rPr lang="en-US" sz="2000" dirty="0"/>
              <a:t>Scalable backend for handling user data</a:t>
            </a:r>
          </a:p>
          <a:p>
            <a:r>
              <a:rPr lang="en-US" sz="2000" dirty="0"/>
              <a:t>Secure authentication &amp; data privacy compliance</a:t>
            </a:r>
          </a:p>
          <a:p>
            <a:r>
              <a:rPr lang="en-US" sz="2000" dirty="0"/>
              <a:t>Performance optimization for seamless experience</a:t>
            </a:r>
          </a:p>
          <a:p>
            <a:pPr marL="0" indent="0">
              <a:buNone/>
            </a:pPr>
            <a:r>
              <a:rPr lang="en-US" sz="2400" b="1" dirty="0" smtClean="0"/>
              <a:t>Challenges </a:t>
            </a:r>
            <a:r>
              <a:rPr lang="en-US" sz="2400" b="1" dirty="0"/>
              <a:t>in Data </a:t>
            </a:r>
            <a:r>
              <a:rPr lang="en-US" sz="2400" b="1" dirty="0" smtClean="0"/>
              <a:t>Collection</a:t>
            </a:r>
          </a:p>
          <a:p>
            <a:r>
              <a:rPr lang="en-US" sz="2000" dirty="0"/>
              <a:t>Limited availability of real-time sustainability </a:t>
            </a:r>
            <a:r>
              <a:rPr lang="en-US" sz="2000" dirty="0" smtClean="0"/>
              <a:t>data</a:t>
            </a:r>
            <a:endParaRPr lang="en-US" sz="2000" dirty="0"/>
          </a:p>
          <a:p>
            <a:r>
              <a:rPr lang="en-US" sz="2000" dirty="0" smtClean="0"/>
              <a:t> </a:t>
            </a:r>
            <a:r>
              <a:rPr lang="en-US" sz="2000" dirty="0"/>
              <a:t>User engagement &amp; response rates in </a:t>
            </a:r>
            <a:r>
              <a:rPr lang="en-US" sz="2000" dirty="0" smtClean="0"/>
              <a:t>surveys</a:t>
            </a:r>
            <a:endParaRPr lang="en-US" sz="2000" dirty="0"/>
          </a:p>
          <a:p>
            <a:r>
              <a:rPr lang="en-US" sz="2000" dirty="0" smtClean="0"/>
              <a:t> </a:t>
            </a:r>
            <a:r>
              <a:rPr lang="en-US" sz="2000" dirty="0"/>
              <a:t>Integrating diverse sustainability metrics into a single </a:t>
            </a:r>
            <a:r>
              <a:rPr lang="en-US" sz="2000" dirty="0" smtClean="0"/>
              <a:t>system</a:t>
            </a:r>
          </a:p>
          <a:p>
            <a:r>
              <a:rPr lang="en-US" sz="2000" dirty="0" smtClean="0"/>
              <a:t>Ensuring </a:t>
            </a:r>
            <a:r>
              <a:rPr lang="en-US" sz="2000" dirty="0"/>
              <a:t>accuracy &amp; reliability of collected </a:t>
            </a:r>
            <a:r>
              <a:rPr lang="en-US" sz="2000" dirty="0" smtClean="0"/>
              <a:t>data</a:t>
            </a:r>
            <a:endParaRPr lang="en-US" sz="20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Requirement Gathering &amp; Data Collection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18870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Current Status</a:t>
            </a:r>
            <a:r>
              <a:rPr lang="en-US" sz="2000" dirty="0"/>
              <a:t>: </a:t>
            </a:r>
            <a:r>
              <a:rPr lang="en-US" sz="2000" dirty="0" smtClean="0"/>
              <a:t>In Progress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Requirement Gathering &amp; Data Collection</a:t>
            </a:r>
            <a:endParaRPr lang="en-US" sz="2800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57200" y="1838236"/>
            <a:ext cx="542007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UI Development: 50% complete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APIs &amp; Database Setup: Ongoing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Carbon Footprint Calculator Logic: In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Surveys &amp; Interviews: Planned for data validation </a:t>
            </a:r>
          </a:p>
        </p:txBody>
      </p:sp>
    </p:spTree>
    <p:extLst>
      <p:ext uri="{BB962C8B-B14F-4D97-AF65-F5344CB8AC3E}">
        <p14:creationId xmlns:p14="http://schemas.microsoft.com/office/powerpoint/2010/main" val="2046046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Slide 5: Design Phase</a:t>
            </a:r>
          </a:p>
          <a:p>
            <a:r>
              <a:rPr lang="en-US" sz="2400" b="1" dirty="0"/>
              <a:t>Use Case Diagram</a:t>
            </a:r>
          </a:p>
          <a:p>
            <a:r>
              <a:rPr lang="en-US" sz="2400" dirty="0"/>
              <a:t>Visual representation of system interactions</a:t>
            </a:r>
          </a:p>
          <a:p>
            <a:r>
              <a:rPr lang="en-US" sz="2400" b="1" dirty="0"/>
              <a:t>Data Flow Diagrams (DFDs)</a:t>
            </a:r>
          </a:p>
          <a:p>
            <a:r>
              <a:rPr lang="en-US" sz="2400" b="1" dirty="0"/>
              <a:t>Level 0 (Context Diagram)</a:t>
            </a:r>
            <a:endParaRPr lang="en-US" sz="2400" dirty="0"/>
          </a:p>
          <a:p>
            <a:r>
              <a:rPr lang="en-US" sz="2400" b="1" dirty="0"/>
              <a:t>Level 1 &amp; 2 (Detailed Data Flows)</a:t>
            </a:r>
            <a:endParaRPr lang="en-US" sz="2400" dirty="0"/>
          </a:p>
          <a:p>
            <a:r>
              <a:rPr lang="en-US" sz="2400" b="1" dirty="0"/>
              <a:t>Architecture &amp; Tech Stack Finalization</a:t>
            </a:r>
          </a:p>
          <a:p>
            <a:r>
              <a:rPr lang="en-US" sz="2400" dirty="0"/>
              <a:t>[List selected technologies and frameworks]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Slide 6: Development Kickoff</a:t>
            </a:r>
          </a:p>
          <a:p>
            <a:r>
              <a:rPr lang="en-US" sz="2400" b="1" dirty="0"/>
              <a:t>Initial Codebase Setup</a:t>
            </a:r>
          </a:p>
          <a:p>
            <a:endParaRPr lang="en-US" sz="24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SDG Goals Mapping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915400" cy="53340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SustainaSphere aligns with the following </a:t>
            </a:r>
            <a:r>
              <a:rPr lang="en-US" sz="2000" b="1" dirty="0"/>
              <a:t>UN SDGs</a:t>
            </a:r>
            <a:r>
              <a:rPr lang="en-US" sz="2000" dirty="0"/>
              <a:t>:</a:t>
            </a:r>
          </a:p>
          <a:p>
            <a:r>
              <a:rPr lang="en-US" sz="2000" dirty="0" smtClean="0"/>
              <a:t> </a:t>
            </a:r>
            <a:r>
              <a:rPr lang="en-US" sz="2000" b="1" dirty="0"/>
              <a:t>SDG 4: Quality Education</a:t>
            </a:r>
            <a:r>
              <a:rPr lang="en-US" sz="2000" dirty="0"/>
              <a:t> – Provides accessible and interactive sustainability </a:t>
            </a:r>
            <a:r>
              <a:rPr lang="en-US" sz="2000" dirty="0" smtClean="0"/>
              <a:t>education.</a:t>
            </a:r>
          </a:p>
          <a:p>
            <a:r>
              <a:rPr lang="en-US" sz="2000" b="1" dirty="0" smtClean="0"/>
              <a:t>SDG 9: Industry</a:t>
            </a:r>
            <a:r>
              <a:rPr lang="en-US" sz="2000" b="1" dirty="0"/>
              <a:t>, Innovation &amp; </a:t>
            </a:r>
            <a:r>
              <a:rPr lang="en-US" sz="2000" b="1" dirty="0" smtClean="0"/>
              <a:t>Infrastructure</a:t>
            </a:r>
            <a:r>
              <a:rPr lang="en-US" sz="2000" dirty="0" smtClean="0"/>
              <a:t> – It focuses </a:t>
            </a:r>
            <a:r>
              <a:rPr lang="en-US" sz="2000" dirty="0"/>
              <a:t>on building resilient infrastructure, promoting inclusive and sustainable industrialization, and fostering innovation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400" b="1" dirty="0"/>
              <a:t>Potential Impact</a:t>
            </a:r>
          </a:p>
          <a:p>
            <a:r>
              <a:rPr lang="en-US" sz="2400" dirty="0" smtClean="0"/>
              <a:t> </a:t>
            </a:r>
            <a:r>
              <a:rPr lang="en-US" sz="2000" b="1" dirty="0"/>
              <a:t>Empowering Individuals:</a:t>
            </a:r>
            <a:r>
              <a:rPr lang="en-US" sz="2000" dirty="0"/>
              <a:t> Encourages students and professionals to adopt sustainable </a:t>
            </a:r>
            <a:r>
              <a:rPr lang="en-US" sz="2000" dirty="0" smtClean="0"/>
              <a:t>practices.</a:t>
            </a:r>
          </a:p>
          <a:p>
            <a:r>
              <a:rPr lang="en-US" sz="2000" b="1" dirty="0" smtClean="0"/>
              <a:t>Behavioral </a:t>
            </a:r>
            <a:r>
              <a:rPr lang="en-US" sz="2000" b="1" dirty="0"/>
              <a:t>Change:</a:t>
            </a:r>
            <a:r>
              <a:rPr lang="en-US" sz="2000" dirty="0"/>
              <a:t> Interactive tools (carbon footprint calculator, quizzes, AI </a:t>
            </a:r>
            <a:r>
              <a:rPr lang="en-US" sz="2000" dirty="0" smtClean="0"/>
              <a:t>chatbot) </a:t>
            </a:r>
            <a:r>
              <a:rPr lang="en-US" sz="2000" dirty="0"/>
              <a:t>motivate users to take eco-friendly </a:t>
            </a:r>
            <a:r>
              <a:rPr lang="en-US" sz="2000" dirty="0" smtClean="0"/>
              <a:t>actions.</a:t>
            </a:r>
          </a:p>
          <a:p>
            <a:r>
              <a:rPr lang="en-US" sz="2000" b="1" dirty="0" smtClean="0"/>
              <a:t>Community </a:t>
            </a:r>
            <a:r>
              <a:rPr lang="en-US" sz="2000" b="1" dirty="0"/>
              <a:t>Engagement:</a:t>
            </a:r>
            <a:r>
              <a:rPr lang="en-US" sz="2000" dirty="0"/>
              <a:t> Events and knowledge-sharing features promote a culture of </a:t>
            </a:r>
            <a:r>
              <a:rPr lang="en-US" sz="2000" dirty="0" smtClean="0"/>
              <a:t>sustainability.</a:t>
            </a:r>
          </a:p>
          <a:p>
            <a:r>
              <a:rPr lang="en-US" sz="2000" b="1" dirty="0" smtClean="0"/>
              <a:t>Data-Driven </a:t>
            </a:r>
            <a:r>
              <a:rPr lang="en-US" sz="2000" b="1" dirty="0"/>
              <a:t>Insights:</a:t>
            </a:r>
            <a:r>
              <a:rPr lang="en-US" sz="2000" dirty="0"/>
              <a:t> Helps users make informed decisions about their environmental impact.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229600" cy="38100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Contribution to Sustainability &amp; Social Good</a:t>
            </a:r>
          </a:p>
          <a:p>
            <a:r>
              <a:rPr lang="en-US" sz="2000" dirty="0" smtClean="0"/>
              <a:t> </a:t>
            </a:r>
            <a:r>
              <a:rPr lang="en-US" sz="2000" b="1" dirty="0"/>
              <a:t>Educational Awareness:</a:t>
            </a:r>
            <a:r>
              <a:rPr lang="en-US" sz="2000" dirty="0"/>
              <a:t> Makes sustainability learning engaging and </a:t>
            </a:r>
            <a:r>
              <a:rPr lang="en-US" sz="2000" dirty="0" smtClean="0"/>
              <a:t>accessible.</a:t>
            </a:r>
          </a:p>
          <a:p>
            <a:r>
              <a:rPr lang="en-US" sz="2000" b="1" dirty="0" smtClean="0"/>
              <a:t>Gamification </a:t>
            </a:r>
            <a:r>
              <a:rPr lang="en-US" sz="2000" b="1" dirty="0"/>
              <a:t>for Impact:</a:t>
            </a:r>
            <a:r>
              <a:rPr lang="en-US" sz="2000" dirty="0"/>
              <a:t> Uses quizzes and games to instill eco-conscious </a:t>
            </a:r>
            <a:r>
              <a:rPr lang="en-US" sz="2000" dirty="0" smtClean="0"/>
              <a:t>habits.</a:t>
            </a:r>
          </a:p>
          <a:p>
            <a:r>
              <a:rPr lang="en-US" sz="2000" dirty="0" smtClean="0"/>
              <a:t> </a:t>
            </a:r>
            <a:r>
              <a:rPr lang="en-US" sz="2000" b="1" dirty="0"/>
              <a:t>Technology for Good:</a:t>
            </a:r>
            <a:r>
              <a:rPr lang="en-US" sz="2000" dirty="0"/>
              <a:t> AI and interactive tools make sustainability insights more personalized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 </a:t>
            </a:r>
            <a:r>
              <a:rPr lang="en-US" sz="2000" b="1" dirty="0"/>
              <a:t>Encouraging Collective Action:</a:t>
            </a:r>
            <a:r>
              <a:rPr lang="en-US" sz="2000" dirty="0"/>
              <a:t> Users can participate in sustainability challenges and community-driven initiatives.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SDG Goals Mapping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36038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Slide 8: Multidisciplinary Approach</a:t>
            </a:r>
          </a:p>
          <a:p>
            <a:r>
              <a:rPr lang="en-US" sz="2800" b="1" dirty="0"/>
              <a:t>Fields Involved</a:t>
            </a:r>
            <a:r>
              <a:rPr lang="en-US" sz="2800" dirty="0"/>
              <a:t>:</a:t>
            </a:r>
          </a:p>
          <a:p>
            <a:pPr lvl="1"/>
            <a:r>
              <a:rPr lang="en-US" sz="2400" dirty="0"/>
              <a:t>AI/ML, Data Science, Engineering, Business, Social Sciences, etc.</a:t>
            </a:r>
          </a:p>
          <a:p>
            <a:r>
              <a:rPr lang="en-US" sz="2800" b="1" dirty="0"/>
              <a:t>Team Collaboration</a:t>
            </a:r>
            <a:endParaRPr lang="en-US" sz="2800" dirty="0"/>
          </a:p>
          <a:p>
            <a:r>
              <a:rPr lang="en-US" sz="2800" b="1" dirty="0"/>
              <a:t>Interdisciplinary Innovation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Novelty Factor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9" y="990601"/>
            <a:ext cx="8610600" cy="38862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What Makes SustainaSphere Unique?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/>
              <a:t> </a:t>
            </a:r>
            <a:r>
              <a:rPr lang="en-US" sz="2000" dirty="0"/>
              <a:t>All-in-One Sustainability Hub – Combines a carbon footprint calculator, AI </a:t>
            </a:r>
            <a:r>
              <a:rPr lang="en-US" sz="2000" dirty="0" smtClean="0"/>
              <a:t>chatbot, </a:t>
            </a:r>
            <a:r>
              <a:rPr lang="en-US" sz="2000" dirty="0"/>
              <a:t>interactive games, and an events platform in one </a:t>
            </a:r>
            <a:r>
              <a:rPr lang="en-US" sz="2000" dirty="0" smtClean="0"/>
              <a:t>place.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/>
              <a:t>Gamified </a:t>
            </a:r>
            <a:r>
              <a:rPr lang="en-US" sz="2000" dirty="0"/>
              <a:t>Learning Experience – Engages users through quizzes, challenges, and leaderboards to drive eco-conscious actions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/>
              <a:t> </a:t>
            </a:r>
            <a:r>
              <a:rPr lang="en-US" sz="2000" dirty="0"/>
              <a:t>AI-Driven Personalization – Uses AI </a:t>
            </a:r>
            <a:r>
              <a:rPr lang="en-US" sz="2000" dirty="0" smtClean="0"/>
              <a:t>chatbot </a:t>
            </a:r>
            <a:r>
              <a:rPr lang="en-US" sz="2000" dirty="0"/>
              <a:t>to provide personalized sustainability tips and answer user queries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/>
              <a:t> </a:t>
            </a:r>
            <a:r>
              <a:rPr lang="en-US" sz="2000" dirty="0"/>
              <a:t>Community Engagement – Encourages collaboration through events, discussion forums, and sustainability challenges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/>
              <a:t> </a:t>
            </a:r>
            <a:r>
              <a:rPr lang="en-US" sz="2000" dirty="0"/>
              <a:t>User-Centric &amp; Interactive – Unlike static sustainability resources, it offers an interactive, data-driven, and engaging experience.</a:t>
            </a:r>
          </a:p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Slide 10: Challenges &amp; Risks</a:t>
            </a:r>
          </a:p>
          <a:p>
            <a:r>
              <a:rPr lang="en-US" sz="2400" b="1" dirty="0"/>
              <a:t>Key Challenges Faced So Far</a:t>
            </a:r>
            <a:endParaRPr lang="en-US" sz="2400" dirty="0"/>
          </a:p>
          <a:p>
            <a:r>
              <a:rPr lang="en-US" sz="2400" b="1" dirty="0"/>
              <a:t>Identified Risks &amp; Mitigation Strategies</a:t>
            </a: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Slide 11: Next Steps</a:t>
            </a:r>
          </a:p>
          <a:p>
            <a:r>
              <a:rPr lang="en-US" sz="2400" b="1" dirty="0"/>
              <a:t>Finalizing Design Phase</a:t>
            </a:r>
            <a:endParaRPr lang="en-US" sz="2400" dirty="0"/>
          </a:p>
          <a:p>
            <a:r>
              <a:rPr lang="en-US" sz="2400" b="1" dirty="0"/>
              <a:t>Early Development &amp; Testing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AE925D5-DA43-4DD1-B6B6-8B467D16728C}" vid="{3EE72552-1DD1-4F59-AD60-F0ECC5712FA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</TotalTime>
  <Words>991</Words>
  <Application>Microsoft Office PowerPoint</Application>
  <PresentationFormat>On-screen Show (4:3)</PresentationFormat>
  <Paragraphs>145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ＭＳ Ｐゴシック</vt:lpstr>
      <vt:lpstr>ＭＳ Ｐゴシック</vt:lpstr>
      <vt:lpstr>Arial</vt:lpstr>
      <vt:lpstr>Calibri</vt:lpstr>
      <vt:lpstr>Times New Roman</vt:lpstr>
      <vt:lpstr>Wingdings</vt:lpstr>
      <vt:lpstr>Theme1</vt:lpstr>
      <vt:lpstr>PowerPoint Presentation</vt:lpstr>
      <vt:lpstr>Agenda</vt:lpstr>
      <vt:lpstr>Project Overview</vt:lpstr>
      <vt:lpstr>Project Overview</vt:lpstr>
      <vt:lpstr>Project Overview</vt:lpstr>
      <vt:lpstr>Requirement Gathering &amp; Data Collection</vt:lpstr>
      <vt:lpstr>Requirement Gathering &amp; Data Collection</vt:lpstr>
      <vt:lpstr>Requirement Gathering &amp; Data Collection</vt:lpstr>
      <vt:lpstr>PowerPoint Presentation</vt:lpstr>
      <vt:lpstr>PowerPoint Presentation</vt:lpstr>
      <vt:lpstr>SDG Goals Mapping</vt:lpstr>
      <vt:lpstr>SDG Goals Mapping</vt:lpstr>
      <vt:lpstr>PowerPoint Presentation</vt:lpstr>
      <vt:lpstr>Novelty Factor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HP</cp:lastModifiedBy>
  <cp:revision>66</cp:revision>
  <dcterms:created xsi:type="dcterms:W3CDTF">2024-07-10T18:26:37Z</dcterms:created>
  <dcterms:modified xsi:type="dcterms:W3CDTF">2025-02-12T06:15:49Z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2024-07-10T00:00:00Z</vt:filetime>
  </property>
</Properties>
</file>